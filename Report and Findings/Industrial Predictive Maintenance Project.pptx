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C935882-225B-49B7-A059-5D618CAEE446}">
          <p14:sldIdLst>
            <p14:sldId id="256"/>
            <p14:sldId id="257"/>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C55DD-B696-4ABC-A8B8-F1CF8712F80E}" type="datetimeFigureOut">
              <a:rPr lang="en-US" smtClean="0"/>
              <a:t>12/26/2025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07DC47-57D4-4BB9-830E-A745603D613B}" type="slidenum">
              <a:rPr lang="en-US" smtClean="0"/>
              <a:t>‹#›</a:t>
            </a:fld>
            <a:endParaRPr lang="en-US"/>
          </a:p>
        </p:txBody>
      </p:sp>
    </p:spTree>
    <p:extLst>
      <p:ext uri="{BB962C8B-B14F-4D97-AF65-F5344CB8AC3E}">
        <p14:creationId xmlns:p14="http://schemas.microsoft.com/office/powerpoint/2010/main" val="668977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07DC47-57D4-4BB9-830E-A745603D613B}" type="slidenum">
              <a:rPr lang="en-US" smtClean="0"/>
              <a:t>1</a:t>
            </a:fld>
            <a:endParaRPr lang="en-US"/>
          </a:p>
        </p:txBody>
      </p:sp>
    </p:spTree>
    <p:extLst>
      <p:ext uri="{BB962C8B-B14F-4D97-AF65-F5344CB8AC3E}">
        <p14:creationId xmlns:p14="http://schemas.microsoft.com/office/powerpoint/2010/main" val="3597038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07DC47-57D4-4BB9-830E-A745603D613B}" type="slidenum">
              <a:rPr lang="en-US" smtClean="0"/>
              <a:t>5</a:t>
            </a:fld>
            <a:endParaRPr lang="en-US"/>
          </a:p>
        </p:txBody>
      </p:sp>
    </p:spTree>
    <p:extLst>
      <p:ext uri="{BB962C8B-B14F-4D97-AF65-F5344CB8AC3E}">
        <p14:creationId xmlns:p14="http://schemas.microsoft.com/office/powerpoint/2010/main" val="1371251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07DC47-57D4-4BB9-830E-A745603D613B}" type="slidenum">
              <a:rPr lang="en-US" smtClean="0"/>
              <a:t>6</a:t>
            </a:fld>
            <a:endParaRPr lang="en-US"/>
          </a:p>
        </p:txBody>
      </p:sp>
    </p:spTree>
    <p:extLst>
      <p:ext uri="{BB962C8B-B14F-4D97-AF65-F5344CB8AC3E}">
        <p14:creationId xmlns:p14="http://schemas.microsoft.com/office/powerpoint/2010/main" val="3494225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AD024-5878-FB2F-FAA3-C93836E224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BF14BB-6469-2495-C9BD-9219C3BFCE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11DDDB-F067-52D8-794C-0F1494CE45C1}"/>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5" name="Footer Placeholder 4">
            <a:extLst>
              <a:ext uri="{FF2B5EF4-FFF2-40B4-BE49-F238E27FC236}">
                <a16:creationId xmlns:a16="http://schemas.microsoft.com/office/drawing/2014/main" id="{260DB80F-1D06-B8E0-AFFD-DEE98D730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BD4EA-7B40-C0CD-B8FF-BDAA29C73753}"/>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735148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6CEE4-E4BB-CBB0-0667-35ED36839B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7A92E2-B26A-7BA4-E5C2-BE2FE4EE92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01FF1-D0A0-E109-98DF-ADEFF5149EBF}"/>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5" name="Footer Placeholder 4">
            <a:extLst>
              <a:ext uri="{FF2B5EF4-FFF2-40B4-BE49-F238E27FC236}">
                <a16:creationId xmlns:a16="http://schemas.microsoft.com/office/drawing/2014/main" id="{9EEB41A5-E13C-AD3F-0101-6FBC4C4DC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4FA3F-9E18-2302-7F38-E667525DDCA4}"/>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623719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E67FB-A108-8AFB-C7E7-4EF4AAAE38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6564DB-58A5-C129-FA31-35D8DC334C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A28D3B-D8F8-2C77-BC4C-E0F25C018845}"/>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5" name="Footer Placeholder 4">
            <a:extLst>
              <a:ext uri="{FF2B5EF4-FFF2-40B4-BE49-F238E27FC236}">
                <a16:creationId xmlns:a16="http://schemas.microsoft.com/office/drawing/2014/main" id="{76A973D6-6F73-B589-2F3D-6C37C40BC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943A7-EC04-2AE6-9D35-5B4D0618871B}"/>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572753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1D8E-DD36-F76D-21B5-010DC8DA85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D6E969-E915-A38D-B4B8-52B6151826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2C11E3-2333-62E5-D305-25E228EDC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AE371B-C659-9915-930B-2503277939E7}"/>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6" name="Footer Placeholder 5">
            <a:extLst>
              <a:ext uri="{FF2B5EF4-FFF2-40B4-BE49-F238E27FC236}">
                <a16:creationId xmlns:a16="http://schemas.microsoft.com/office/drawing/2014/main" id="{39CB5CC1-9A78-8668-7360-9A5CB8637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F341E-CBB8-0C97-44B3-B6E61F96EC69}"/>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1038886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B71B6-D827-640A-2E1C-3106E7ABCE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3E1C8D-35F4-587C-5FB3-1924E5D70D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B4348D-7A72-2C4D-16DB-09270FF4D3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A6616D-D371-B286-4B24-65DC9C72C5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0D26C-AEE4-7E66-B313-3F50BD832F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5098B1-4378-9EC4-F4F5-8BF265EF615A}"/>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8" name="Footer Placeholder 7">
            <a:extLst>
              <a:ext uri="{FF2B5EF4-FFF2-40B4-BE49-F238E27FC236}">
                <a16:creationId xmlns:a16="http://schemas.microsoft.com/office/drawing/2014/main" id="{35B71524-A5AA-5AF3-1F64-5AFB6EB1C8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9EF3A-8E8D-8268-2A44-2466A80E36E5}"/>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1385799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166F-126C-84E1-0627-B1728BE47D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295BFD-F4D5-29E4-D30D-D692F394D040}"/>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4" name="Footer Placeholder 3">
            <a:extLst>
              <a:ext uri="{FF2B5EF4-FFF2-40B4-BE49-F238E27FC236}">
                <a16:creationId xmlns:a16="http://schemas.microsoft.com/office/drawing/2014/main" id="{08BDF899-EA98-C1B7-E353-EC7DF83D22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534E3E-E6E4-C5BF-630E-1023DE170514}"/>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34348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EE16F-9C7C-FF8B-C8E8-61988FADEEF6}"/>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3" name="Footer Placeholder 2">
            <a:extLst>
              <a:ext uri="{FF2B5EF4-FFF2-40B4-BE49-F238E27FC236}">
                <a16:creationId xmlns:a16="http://schemas.microsoft.com/office/drawing/2014/main" id="{33BC21FF-0A34-958A-D0C3-5E907130EC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686AC-E03E-F6C1-D8A3-0DB87BAFB80D}"/>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620943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F94-D259-8C30-AEE6-9F99AF1EF7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9F8CC-952D-B396-23C4-D98BAB0CDB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743725-E1B6-9082-FAC7-842C12CE48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1448D0-9F2A-264C-4EEB-D847E5C7B261}"/>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6" name="Footer Placeholder 5">
            <a:extLst>
              <a:ext uri="{FF2B5EF4-FFF2-40B4-BE49-F238E27FC236}">
                <a16:creationId xmlns:a16="http://schemas.microsoft.com/office/drawing/2014/main" id="{4A7F280E-28B6-8452-2E96-99F3EC67F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9DD1B-7156-EA71-CFF6-8023F870F5AD}"/>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245246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69EA-5C08-C6DF-CCDF-A2B43406C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573276-E4BE-9EEF-0257-ED331AF75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D4A4C7-BBE7-8EF9-D9E0-F79CF057E2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FFCD10-B3BD-24CD-B459-C60BA77E6C7A}"/>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6" name="Footer Placeholder 5">
            <a:extLst>
              <a:ext uri="{FF2B5EF4-FFF2-40B4-BE49-F238E27FC236}">
                <a16:creationId xmlns:a16="http://schemas.microsoft.com/office/drawing/2014/main" id="{5E32DA16-63C0-4876-FEB7-44BC1F8A29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CBD20-0335-82D2-0588-41DC171EB97B}"/>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1288539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92789-880D-0EFB-BD0C-8F3F94A203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BB8E04-6A31-950E-2923-D2F4A3B257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C37B88-7F01-48C5-EEA8-28B8D83B0F24}"/>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5" name="Footer Placeholder 4">
            <a:extLst>
              <a:ext uri="{FF2B5EF4-FFF2-40B4-BE49-F238E27FC236}">
                <a16:creationId xmlns:a16="http://schemas.microsoft.com/office/drawing/2014/main" id="{BD81C657-4837-7CFB-8339-0DAC8A5355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58443-9009-99FC-5442-91E030E677BD}"/>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3424030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383C1B-C524-72B2-9D2E-6C85C5A036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00F072-959F-5102-802E-7F7092515A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D471FC-1DC2-F3CC-1081-C4EE016817F6}"/>
              </a:ext>
            </a:extLst>
          </p:cNvPr>
          <p:cNvSpPr>
            <a:spLocks noGrp="1"/>
          </p:cNvSpPr>
          <p:nvPr>
            <p:ph type="dt" sz="half" idx="10"/>
          </p:nvPr>
        </p:nvSpPr>
        <p:spPr/>
        <p:txBody>
          <a:bodyPr/>
          <a:lstStyle/>
          <a:p>
            <a:fld id="{EAC13841-2601-4964-86CB-075A9940EB0C}" type="datetimeFigureOut">
              <a:rPr lang="en-US" smtClean="0"/>
              <a:t>12/26/2025</a:t>
            </a:fld>
            <a:endParaRPr lang="en-US"/>
          </a:p>
        </p:txBody>
      </p:sp>
      <p:sp>
        <p:nvSpPr>
          <p:cNvPr id="5" name="Footer Placeholder 4">
            <a:extLst>
              <a:ext uri="{FF2B5EF4-FFF2-40B4-BE49-F238E27FC236}">
                <a16:creationId xmlns:a16="http://schemas.microsoft.com/office/drawing/2014/main" id="{24E2306C-8667-6429-465B-9FF636779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A12BE-BECD-E885-25E5-A33DF88F17EE}"/>
              </a:ext>
            </a:extLst>
          </p:cNvPr>
          <p:cNvSpPr>
            <a:spLocks noGrp="1"/>
          </p:cNvSpPr>
          <p:nvPr>
            <p:ph type="sldNum" sz="quarter" idx="12"/>
          </p:nvPr>
        </p:nvSpPr>
        <p:spPr/>
        <p:txBody>
          <a:bodyPr/>
          <a:lstStyle/>
          <a:p>
            <a:fld id="{FF0D18C0-D544-4E44-9F14-320805D66493}" type="slidenum">
              <a:rPr lang="en-US" smtClean="0"/>
              <a:t>‹#›</a:t>
            </a:fld>
            <a:endParaRPr lang="en-US"/>
          </a:p>
        </p:txBody>
      </p:sp>
    </p:spTree>
    <p:extLst>
      <p:ext uri="{BB962C8B-B14F-4D97-AF65-F5344CB8AC3E}">
        <p14:creationId xmlns:p14="http://schemas.microsoft.com/office/powerpoint/2010/main" val="3937733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111334-AF8B-B048-49B5-60AF08AEEA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C9151-95F0-A04F-8C14-8C728C774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3CC998-AD0D-9F7A-7E03-052D210DDA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C13841-2601-4964-86CB-075A9940EB0C}" type="datetimeFigureOut">
              <a:rPr lang="en-US" smtClean="0"/>
              <a:t>12/26/2025</a:t>
            </a:fld>
            <a:endParaRPr lang="en-US"/>
          </a:p>
        </p:txBody>
      </p:sp>
      <p:sp>
        <p:nvSpPr>
          <p:cNvPr id="5" name="Footer Placeholder 4">
            <a:extLst>
              <a:ext uri="{FF2B5EF4-FFF2-40B4-BE49-F238E27FC236}">
                <a16:creationId xmlns:a16="http://schemas.microsoft.com/office/drawing/2014/main" id="{0E7654CF-F00B-690E-1BE7-BC08E5869E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FA29FB-A6D7-2854-D3A7-02E2B72BE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0D18C0-D544-4E44-9F14-320805D66493}" type="slidenum">
              <a:rPr lang="en-US" smtClean="0"/>
              <a:t>‹#›</a:t>
            </a:fld>
            <a:endParaRPr lang="en-US"/>
          </a:p>
        </p:txBody>
      </p:sp>
    </p:spTree>
    <p:extLst>
      <p:ext uri="{BB962C8B-B14F-4D97-AF65-F5344CB8AC3E}">
        <p14:creationId xmlns:p14="http://schemas.microsoft.com/office/powerpoint/2010/main" val="3495256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merriam-webster.com/dictionary/machine"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freepik.com/premium-vector/problem-solving-flat-icon-colored-sign-from-machine-learning-collection-creative-problem-solving-icon-illustration-web-design-infographics-more_31578518.htm"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vecteezy.com/video/27147089-animation-footage-of-digital-data-analysis-concept-people-characters-working-with-data-visualization-analyzing-tables-charts-and-graphs-at-business-dashboard"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istockphoto.com/es/fotos/key-learning-point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vecteezy.com/vector-art/14364149-insight-icon-from-security-outline-collection-thin-line-insight-icon-isolated-on-white-background" TargetMode="External"/><Relationship Id="rId2" Type="http://schemas.openxmlformats.org/officeDocument/2006/relationships/image" Target="../media/image10.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04BDAC-CE9F-1671-80C0-E9F352F7616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696697" y="4289798"/>
            <a:ext cx="2798606" cy="1865737"/>
          </a:xfrm>
          <a:prstGeom prst="rect">
            <a:avLst/>
          </a:prstGeom>
        </p:spPr>
      </p:pic>
      <p:sp>
        <p:nvSpPr>
          <p:cNvPr id="2" name="Title 1">
            <a:extLst>
              <a:ext uri="{FF2B5EF4-FFF2-40B4-BE49-F238E27FC236}">
                <a16:creationId xmlns:a16="http://schemas.microsoft.com/office/drawing/2014/main" id="{9052C2C0-1DF0-181E-99F5-E08822AF086E}"/>
              </a:ext>
            </a:extLst>
          </p:cNvPr>
          <p:cNvSpPr>
            <a:spLocks noGrp="1"/>
          </p:cNvSpPr>
          <p:nvPr>
            <p:ph type="ctrTitle"/>
          </p:nvPr>
        </p:nvSpPr>
        <p:spPr>
          <a:xfrm>
            <a:off x="1524000" y="154361"/>
            <a:ext cx="9144000" cy="4135437"/>
          </a:xfrm>
        </p:spPr>
        <p:txBody>
          <a:bodyPr>
            <a:normAutofit/>
          </a:bodyPr>
          <a:lstStyle/>
          <a:p>
            <a:r>
              <a:rPr lang="en-US" sz="4400" b="1" dirty="0"/>
              <a:t>Industrial Predictive Maintenance Using </a:t>
            </a:r>
            <a:br>
              <a:rPr lang="en-US" sz="4400" b="1" dirty="0"/>
            </a:br>
            <a:r>
              <a:rPr lang="en-US" sz="4400" b="1" dirty="0"/>
              <a:t>Physics-Based Analytics and Machine Learning</a:t>
            </a:r>
            <a:br>
              <a:rPr lang="en-US" dirty="0"/>
            </a:br>
            <a:endParaRPr lang="en-US" dirty="0"/>
          </a:p>
        </p:txBody>
      </p:sp>
      <p:sp>
        <p:nvSpPr>
          <p:cNvPr id="4" name="TextBox 3">
            <a:extLst>
              <a:ext uri="{FF2B5EF4-FFF2-40B4-BE49-F238E27FC236}">
                <a16:creationId xmlns:a16="http://schemas.microsoft.com/office/drawing/2014/main" id="{42640109-FD87-BF41-8F53-DD3C770CBEB1}"/>
              </a:ext>
            </a:extLst>
          </p:cNvPr>
          <p:cNvSpPr txBox="1"/>
          <p:nvPr/>
        </p:nvSpPr>
        <p:spPr>
          <a:xfrm>
            <a:off x="824459" y="5786203"/>
            <a:ext cx="3028013" cy="369332"/>
          </a:xfrm>
          <a:prstGeom prst="rect">
            <a:avLst/>
          </a:prstGeom>
          <a:noFill/>
        </p:spPr>
        <p:txBody>
          <a:bodyPr wrap="square" rtlCol="0">
            <a:spAutoFit/>
          </a:bodyPr>
          <a:lstStyle/>
          <a:p>
            <a:r>
              <a:rPr lang="en-US" dirty="0"/>
              <a:t>Author: Muzamil Tariq </a:t>
            </a:r>
          </a:p>
        </p:txBody>
      </p:sp>
      <p:sp>
        <p:nvSpPr>
          <p:cNvPr id="5" name="TextBox 4">
            <a:extLst>
              <a:ext uri="{FF2B5EF4-FFF2-40B4-BE49-F238E27FC236}">
                <a16:creationId xmlns:a16="http://schemas.microsoft.com/office/drawing/2014/main" id="{921BAFA7-0BFE-FEDF-990E-7EF81590AE40}"/>
              </a:ext>
            </a:extLst>
          </p:cNvPr>
          <p:cNvSpPr txBox="1"/>
          <p:nvPr/>
        </p:nvSpPr>
        <p:spPr>
          <a:xfrm>
            <a:off x="9498767" y="5786203"/>
            <a:ext cx="2338466" cy="369332"/>
          </a:xfrm>
          <a:prstGeom prst="rect">
            <a:avLst/>
          </a:prstGeom>
          <a:noFill/>
        </p:spPr>
        <p:txBody>
          <a:bodyPr wrap="square" rtlCol="0">
            <a:spAutoFit/>
          </a:bodyPr>
          <a:lstStyle/>
          <a:p>
            <a:r>
              <a:rPr lang="en-US" dirty="0"/>
              <a:t>Role: Data Scientist</a:t>
            </a:r>
          </a:p>
        </p:txBody>
      </p:sp>
    </p:spTree>
    <p:extLst>
      <p:ext uri="{BB962C8B-B14F-4D97-AF65-F5344CB8AC3E}">
        <p14:creationId xmlns:p14="http://schemas.microsoft.com/office/powerpoint/2010/main" val="208613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C3FFA0C-8E6F-B78D-9663-6413F2EA7F6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598732" y="2344090"/>
            <a:ext cx="3009274" cy="3009274"/>
          </a:xfrm>
          <a:prstGeom prst="rect">
            <a:avLst/>
          </a:prstGeom>
        </p:spPr>
      </p:pic>
      <p:sp>
        <p:nvSpPr>
          <p:cNvPr id="2" name="Title 1">
            <a:extLst>
              <a:ext uri="{FF2B5EF4-FFF2-40B4-BE49-F238E27FC236}">
                <a16:creationId xmlns:a16="http://schemas.microsoft.com/office/drawing/2014/main" id="{306B5413-9BDC-560C-884B-202E62C6CAF1}"/>
              </a:ext>
            </a:extLst>
          </p:cNvPr>
          <p:cNvSpPr>
            <a:spLocks noGrp="1"/>
          </p:cNvSpPr>
          <p:nvPr>
            <p:ph type="ctrTitle"/>
          </p:nvPr>
        </p:nvSpPr>
        <p:spPr>
          <a:xfrm>
            <a:off x="1419067" y="650633"/>
            <a:ext cx="3287843" cy="614597"/>
          </a:xfrm>
        </p:spPr>
        <p:txBody>
          <a:bodyPr>
            <a:normAutofit/>
          </a:bodyPr>
          <a:lstStyle/>
          <a:p>
            <a:r>
              <a:rPr lang="en-US" sz="2800" b="1" dirty="0">
                <a:latin typeface="+mn-lt"/>
              </a:rPr>
              <a:t>Problem</a:t>
            </a:r>
            <a:r>
              <a:rPr lang="en-US" sz="2800" b="1" dirty="0"/>
              <a:t> </a:t>
            </a:r>
            <a:r>
              <a:rPr lang="en-US" sz="2800" b="1" dirty="0">
                <a:latin typeface="+mn-lt"/>
              </a:rPr>
              <a:t>Statement</a:t>
            </a:r>
          </a:p>
        </p:txBody>
      </p:sp>
      <p:sp>
        <p:nvSpPr>
          <p:cNvPr id="3" name="Subtitle 2">
            <a:extLst>
              <a:ext uri="{FF2B5EF4-FFF2-40B4-BE49-F238E27FC236}">
                <a16:creationId xmlns:a16="http://schemas.microsoft.com/office/drawing/2014/main" id="{2DC3DF07-9E9B-4E5D-FFF5-840F407FD439}"/>
              </a:ext>
            </a:extLst>
          </p:cNvPr>
          <p:cNvSpPr>
            <a:spLocks noGrp="1"/>
          </p:cNvSpPr>
          <p:nvPr>
            <p:ph type="subTitle" idx="1"/>
          </p:nvPr>
        </p:nvSpPr>
        <p:spPr>
          <a:xfrm>
            <a:off x="1523999" y="1274163"/>
            <a:ext cx="9883515" cy="1735111"/>
          </a:xfrm>
        </p:spPr>
        <p:txBody>
          <a:bodyPr>
            <a:noAutofit/>
          </a:bodyPr>
          <a:lstStyle/>
          <a:p>
            <a:pPr algn="l"/>
            <a:r>
              <a:rPr lang="en-US" dirty="0"/>
              <a:t>• Unplanned machine failures cause high downtime and maintenance costs</a:t>
            </a:r>
          </a:p>
          <a:p>
            <a:pPr algn="l"/>
            <a:r>
              <a:rPr lang="en-US" dirty="0"/>
              <a:t>• Traditional maintenance is either reactive or time-based</a:t>
            </a:r>
          </a:p>
          <a:p>
            <a:pPr algn="l"/>
            <a:r>
              <a:rPr lang="en-US" dirty="0"/>
              <a:t>• These methods are inefficient and costly</a:t>
            </a:r>
          </a:p>
          <a:p>
            <a:pPr algn="l"/>
            <a:r>
              <a:rPr lang="en-US" dirty="0"/>
              <a:t>• There is a need for data-driven failure prediction</a:t>
            </a:r>
          </a:p>
        </p:txBody>
      </p:sp>
      <p:sp>
        <p:nvSpPr>
          <p:cNvPr id="6" name="TextBox 5">
            <a:extLst>
              <a:ext uri="{FF2B5EF4-FFF2-40B4-BE49-F238E27FC236}">
                <a16:creationId xmlns:a16="http://schemas.microsoft.com/office/drawing/2014/main" id="{49B885BB-EDF9-F9B8-0A3E-D638C176D766}"/>
              </a:ext>
            </a:extLst>
          </p:cNvPr>
          <p:cNvSpPr txBox="1"/>
          <p:nvPr/>
        </p:nvSpPr>
        <p:spPr>
          <a:xfrm>
            <a:off x="1523999" y="3926549"/>
            <a:ext cx="3182911" cy="523220"/>
          </a:xfrm>
          <a:prstGeom prst="rect">
            <a:avLst/>
          </a:prstGeom>
          <a:noFill/>
        </p:spPr>
        <p:txBody>
          <a:bodyPr wrap="square" rtlCol="0">
            <a:spAutoFit/>
          </a:bodyPr>
          <a:lstStyle/>
          <a:p>
            <a:r>
              <a:rPr lang="en-US" sz="2800" b="1" dirty="0"/>
              <a:t>Project Objective</a:t>
            </a:r>
          </a:p>
        </p:txBody>
      </p:sp>
      <p:sp>
        <p:nvSpPr>
          <p:cNvPr id="7" name="TextBox 6">
            <a:extLst>
              <a:ext uri="{FF2B5EF4-FFF2-40B4-BE49-F238E27FC236}">
                <a16:creationId xmlns:a16="http://schemas.microsoft.com/office/drawing/2014/main" id="{236F4CB4-50BA-9461-E218-7D06194B90AE}"/>
              </a:ext>
            </a:extLst>
          </p:cNvPr>
          <p:cNvSpPr txBox="1"/>
          <p:nvPr/>
        </p:nvSpPr>
        <p:spPr>
          <a:xfrm>
            <a:off x="1523999" y="4449769"/>
            <a:ext cx="8774242" cy="1569660"/>
          </a:xfrm>
          <a:prstGeom prst="rect">
            <a:avLst/>
          </a:prstGeom>
          <a:noFill/>
        </p:spPr>
        <p:txBody>
          <a:bodyPr wrap="square" rtlCol="0">
            <a:spAutoFit/>
          </a:bodyPr>
          <a:lstStyle/>
          <a:p>
            <a:r>
              <a:rPr lang="en-US" sz="2400" dirty="0"/>
              <a:t>• Predict machine failures before they occur</a:t>
            </a:r>
          </a:p>
          <a:p>
            <a:r>
              <a:rPr lang="en-US" sz="2400" dirty="0"/>
              <a:t>• Identify key physical factors leading to failures</a:t>
            </a:r>
          </a:p>
          <a:p>
            <a:r>
              <a:rPr lang="en-US" sz="2400" dirty="0"/>
              <a:t>• Combine physics-based understanding with ML</a:t>
            </a:r>
          </a:p>
          <a:p>
            <a:r>
              <a:rPr lang="en-US" sz="2400" dirty="0"/>
              <a:t>• Build a reliable and robust predictive model</a:t>
            </a:r>
          </a:p>
        </p:txBody>
      </p:sp>
    </p:spTree>
    <p:extLst>
      <p:ext uri="{BB962C8B-B14F-4D97-AF65-F5344CB8AC3E}">
        <p14:creationId xmlns:p14="http://schemas.microsoft.com/office/powerpoint/2010/main" val="246193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A750F2-6AD5-8586-2F68-35E7AE1F9BE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399225" y="2934325"/>
            <a:ext cx="3058256" cy="1757597"/>
          </a:xfrm>
          <a:prstGeom prst="rect">
            <a:avLst/>
          </a:prstGeom>
        </p:spPr>
      </p:pic>
      <p:sp>
        <p:nvSpPr>
          <p:cNvPr id="2" name="Title 1">
            <a:extLst>
              <a:ext uri="{FF2B5EF4-FFF2-40B4-BE49-F238E27FC236}">
                <a16:creationId xmlns:a16="http://schemas.microsoft.com/office/drawing/2014/main" id="{C09802FA-23CC-71FF-C76A-AE4B565AE271}"/>
              </a:ext>
            </a:extLst>
          </p:cNvPr>
          <p:cNvSpPr>
            <a:spLocks noGrp="1"/>
          </p:cNvSpPr>
          <p:nvPr>
            <p:ph type="ctrTitle"/>
          </p:nvPr>
        </p:nvSpPr>
        <p:spPr>
          <a:xfrm>
            <a:off x="1059305" y="702638"/>
            <a:ext cx="3092970" cy="477837"/>
          </a:xfrm>
        </p:spPr>
        <p:txBody>
          <a:bodyPr>
            <a:noAutofit/>
          </a:bodyPr>
          <a:lstStyle/>
          <a:p>
            <a:r>
              <a:rPr lang="en-US" sz="2800" b="1" dirty="0">
                <a:latin typeface="+mn-lt"/>
              </a:rPr>
              <a:t>Dataset Overview</a:t>
            </a:r>
          </a:p>
        </p:txBody>
      </p:sp>
      <p:sp>
        <p:nvSpPr>
          <p:cNvPr id="3" name="Subtitle 2">
            <a:extLst>
              <a:ext uri="{FF2B5EF4-FFF2-40B4-BE49-F238E27FC236}">
                <a16:creationId xmlns:a16="http://schemas.microsoft.com/office/drawing/2014/main" id="{F9F017EC-1D2F-2319-44DC-5C51709E3B01}"/>
              </a:ext>
            </a:extLst>
          </p:cNvPr>
          <p:cNvSpPr>
            <a:spLocks noGrp="1"/>
          </p:cNvSpPr>
          <p:nvPr>
            <p:ph type="subTitle" idx="1"/>
          </p:nvPr>
        </p:nvSpPr>
        <p:spPr>
          <a:xfrm>
            <a:off x="1254177" y="1180475"/>
            <a:ext cx="10018426" cy="1757597"/>
          </a:xfrm>
        </p:spPr>
        <p:txBody>
          <a:bodyPr>
            <a:noAutofit/>
          </a:bodyPr>
          <a:lstStyle/>
          <a:p>
            <a:pPr algn="l">
              <a:lnSpc>
                <a:spcPct val="100000"/>
              </a:lnSpc>
            </a:pPr>
            <a:r>
              <a:rPr lang="en-US" sz="2000" dirty="0"/>
              <a:t>• 10,000 machine operation records</a:t>
            </a:r>
          </a:p>
          <a:p>
            <a:pPr algn="l">
              <a:lnSpc>
                <a:spcPct val="100000"/>
              </a:lnSpc>
            </a:pPr>
            <a:r>
              <a:rPr lang="en-US" sz="2000" dirty="0"/>
              <a:t>• Sensor data including:  - Temperatures - Rotational speed - Torque - Tool wear</a:t>
            </a:r>
          </a:p>
          <a:p>
            <a:pPr algn="l">
              <a:lnSpc>
                <a:spcPct val="100000"/>
              </a:lnSpc>
            </a:pPr>
            <a:r>
              <a:rPr lang="en-US" sz="2000" dirty="0"/>
              <a:t>• Multiple failure indicators</a:t>
            </a:r>
          </a:p>
          <a:p>
            <a:pPr algn="l">
              <a:lnSpc>
                <a:spcPct val="100000"/>
              </a:lnSpc>
            </a:pPr>
            <a:r>
              <a:rPr lang="en-US" sz="2000" dirty="0"/>
              <a:t>• Failure occurrence ≈ 3.4% (imbalanced data)</a:t>
            </a:r>
          </a:p>
        </p:txBody>
      </p:sp>
      <p:sp>
        <p:nvSpPr>
          <p:cNvPr id="4" name="TextBox 3">
            <a:extLst>
              <a:ext uri="{FF2B5EF4-FFF2-40B4-BE49-F238E27FC236}">
                <a16:creationId xmlns:a16="http://schemas.microsoft.com/office/drawing/2014/main" id="{5E39D265-0033-95C1-AC28-F87056F730E5}"/>
              </a:ext>
            </a:extLst>
          </p:cNvPr>
          <p:cNvSpPr txBox="1"/>
          <p:nvPr/>
        </p:nvSpPr>
        <p:spPr>
          <a:xfrm>
            <a:off x="1254177" y="3396709"/>
            <a:ext cx="5141626" cy="523220"/>
          </a:xfrm>
          <a:prstGeom prst="rect">
            <a:avLst/>
          </a:prstGeom>
          <a:noFill/>
        </p:spPr>
        <p:txBody>
          <a:bodyPr wrap="square" rtlCol="0">
            <a:spAutoFit/>
          </a:bodyPr>
          <a:lstStyle/>
          <a:p>
            <a:r>
              <a:rPr lang="en-US" sz="2800" b="1" dirty="0"/>
              <a:t>Exploratory Data Analysis (EDA)</a:t>
            </a:r>
          </a:p>
        </p:txBody>
      </p:sp>
      <p:sp>
        <p:nvSpPr>
          <p:cNvPr id="5" name="TextBox 4">
            <a:extLst>
              <a:ext uri="{FF2B5EF4-FFF2-40B4-BE49-F238E27FC236}">
                <a16:creationId xmlns:a16="http://schemas.microsoft.com/office/drawing/2014/main" id="{F607F723-12AD-BD15-0C6E-EADADE2C5C60}"/>
              </a:ext>
            </a:extLst>
          </p:cNvPr>
          <p:cNvSpPr txBox="1"/>
          <p:nvPr/>
        </p:nvSpPr>
        <p:spPr>
          <a:xfrm>
            <a:off x="1284157" y="3967506"/>
            <a:ext cx="9623686" cy="1733808"/>
          </a:xfrm>
          <a:prstGeom prst="rect">
            <a:avLst/>
          </a:prstGeom>
          <a:noFill/>
        </p:spPr>
        <p:txBody>
          <a:bodyPr wrap="square" rtlCol="0">
            <a:spAutoFit/>
          </a:bodyPr>
          <a:lstStyle/>
          <a:p>
            <a:pPr>
              <a:spcBef>
                <a:spcPts val="100"/>
              </a:spcBef>
              <a:spcAft>
                <a:spcPts val="130"/>
              </a:spcAft>
            </a:pPr>
            <a:r>
              <a:rPr lang="en-US" sz="2000" dirty="0"/>
              <a:t>Key EDA Observations:</a:t>
            </a:r>
          </a:p>
          <a:p>
            <a:pPr>
              <a:spcBef>
                <a:spcPts val="100"/>
              </a:spcBef>
              <a:spcAft>
                <a:spcPts val="130"/>
              </a:spcAft>
            </a:pPr>
            <a:r>
              <a:rPr lang="en-US" sz="2000" dirty="0"/>
              <a:t>• Failures are rare but significant</a:t>
            </a:r>
          </a:p>
          <a:p>
            <a:pPr>
              <a:spcBef>
                <a:spcPts val="100"/>
              </a:spcBef>
              <a:spcAft>
                <a:spcPts val="130"/>
              </a:spcAft>
            </a:pPr>
            <a:r>
              <a:rPr lang="en-US" sz="2000" dirty="0"/>
              <a:t>• Temperature and mechanical variables are stable overall</a:t>
            </a:r>
          </a:p>
          <a:p>
            <a:pPr>
              <a:spcBef>
                <a:spcPts val="100"/>
              </a:spcBef>
              <a:spcAft>
                <a:spcPts val="130"/>
              </a:spcAft>
            </a:pPr>
            <a:r>
              <a:rPr lang="en-US" sz="2000" dirty="0"/>
              <a:t>• Failures occur mostly at extreme conditions</a:t>
            </a:r>
          </a:p>
          <a:p>
            <a:pPr>
              <a:spcBef>
                <a:spcPts val="100"/>
              </a:spcBef>
              <a:spcAft>
                <a:spcPts val="130"/>
              </a:spcAft>
            </a:pPr>
            <a:r>
              <a:rPr lang="en-US" sz="2000" dirty="0"/>
              <a:t>• Tool wear increases failure probability</a:t>
            </a:r>
          </a:p>
        </p:txBody>
      </p:sp>
    </p:spTree>
    <p:extLst>
      <p:ext uri="{BB962C8B-B14F-4D97-AF65-F5344CB8AC3E}">
        <p14:creationId xmlns:p14="http://schemas.microsoft.com/office/powerpoint/2010/main" val="270627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5DED-8FEE-C77B-CA74-ED6020E58FCF}"/>
              </a:ext>
            </a:extLst>
          </p:cNvPr>
          <p:cNvSpPr>
            <a:spLocks noGrp="1"/>
          </p:cNvSpPr>
          <p:nvPr>
            <p:ph type="ctrTitle"/>
          </p:nvPr>
        </p:nvSpPr>
        <p:spPr>
          <a:xfrm>
            <a:off x="2950564" y="176073"/>
            <a:ext cx="6510728" cy="629586"/>
          </a:xfrm>
        </p:spPr>
        <p:txBody>
          <a:bodyPr>
            <a:normAutofit/>
          </a:bodyPr>
          <a:lstStyle/>
          <a:p>
            <a:r>
              <a:rPr lang="en-US" sz="2400" b="1" dirty="0">
                <a:latin typeface="+mn-lt"/>
              </a:rPr>
              <a:t>Key Factors Influencing Machine Failure</a:t>
            </a:r>
          </a:p>
        </p:txBody>
      </p:sp>
      <p:sp>
        <p:nvSpPr>
          <p:cNvPr id="3" name="Subtitle 2">
            <a:extLst>
              <a:ext uri="{FF2B5EF4-FFF2-40B4-BE49-F238E27FC236}">
                <a16:creationId xmlns:a16="http://schemas.microsoft.com/office/drawing/2014/main" id="{333B31C3-6685-A48A-82E3-56DAB5800399}"/>
              </a:ext>
            </a:extLst>
          </p:cNvPr>
          <p:cNvSpPr>
            <a:spLocks noGrp="1"/>
          </p:cNvSpPr>
          <p:nvPr>
            <p:ph type="subTitle" idx="1"/>
          </p:nvPr>
        </p:nvSpPr>
        <p:spPr>
          <a:xfrm>
            <a:off x="529654" y="4308184"/>
            <a:ext cx="11662346" cy="2386614"/>
          </a:xfrm>
        </p:spPr>
        <p:txBody>
          <a:bodyPr>
            <a:normAutofit/>
          </a:bodyPr>
          <a:lstStyle/>
          <a:p>
            <a:pPr marL="571500" indent="-571500" algn="l">
              <a:buFont typeface="Arial" panose="020B0604020202020204" pitchFamily="34" charset="0"/>
              <a:buChar char="•"/>
            </a:pPr>
            <a:r>
              <a:rPr lang="en-US" sz="2200" dirty="0"/>
              <a:t>Machines are </a:t>
            </a:r>
            <a:r>
              <a:rPr lang="en-US" sz="2200" b="1" dirty="0"/>
              <a:t>much more likely to fail when tools are heavily worn</a:t>
            </a:r>
            <a:r>
              <a:rPr lang="en-US" sz="2200" dirty="0"/>
              <a:t>.</a:t>
            </a:r>
          </a:p>
          <a:p>
            <a:pPr marL="571500" indent="-571500" algn="l">
              <a:buFont typeface="Arial" panose="020B0604020202020204" pitchFamily="34" charset="0"/>
              <a:buChar char="•"/>
            </a:pPr>
            <a:r>
              <a:rPr lang="en-US" sz="2200" dirty="0"/>
              <a:t>Even if everything else looks normal, </a:t>
            </a:r>
            <a:r>
              <a:rPr lang="en-US" sz="2200" b="1" dirty="0"/>
              <a:t>old or worn tools alone can cause breakdowns</a:t>
            </a:r>
            <a:r>
              <a:rPr lang="en-US" sz="2200" dirty="0"/>
              <a:t>.</a:t>
            </a:r>
          </a:p>
          <a:p>
            <a:pPr marL="571500" indent="-571500" algn="l">
              <a:buFont typeface="Arial" panose="020B0604020202020204" pitchFamily="34" charset="0"/>
              <a:buChar char="•"/>
            </a:pPr>
            <a:r>
              <a:rPr lang="en-US" sz="2200" dirty="0"/>
              <a:t>The temperature difference shows </a:t>
            </a:r>
            <a:r>
              <a:rPr lang="en-US" sz="2200" b="1" dirty="0"/>
              <a:t>how well the machine is cooling itself</a:t>
            </a:r>
            <a:r>
              <a:rPr lang="en-US" sz="2200" dirty="0"/>
              <a:t>.</a:t>
            </a:r>
          </a:p>
          <a:p>
            <a:pPr marL="571500" indent="-571500" algn="l">
              <a:buFont typeface="Arial" panose="020B0604020202020204" pitchFamily="34" charset="0"/>
              <a:buChar char="•"/>
            </a:pPr>
            <a:r>
              <a:rPr lang="en-US" sz="2200" dirty="0"/>
              <a:t>When this difference becomes small, it means </a:t>
            </a:r>
            <a:r>
              <a:rPr lang="en-US" sz="2200" b="1" dirty="0"/>
              <a:t>heat is not escaping properly</a:t>
            </a:r>
            <a:r>
              <a:rPr lang="en-US" sz="2200" dirty="0"/>
              <a:t>, increasing risk.</a:t>
            </a:r>
          </a:p>
          <a:p>
            <a:pPr marL="571500" indent="-571500" algn="l">
              <a:buFont typeface="Arial" panose="020B0604020202020204" pitchFamily="34" charset="0"/>
              <a:buChar char="•"/>
            </a:pPr>
            <a:r>
              <a:rPr lang="en-US" sz="2200" dirty="0"/>
              <a:t>The highest failure risk occurs when worn tools and poor cooling happen together.</a:t>
            </a:r>
          </a:p>
          <a:p>
            <a:endParaRPr lang="en-US" dirty="0"/>
          </a:p>
        </p:txBody>
      </p:sp>
      <p:pic>
        <p:nvPicPr>
          <p:cNvPr id="5" name="Picture 4">
            <a:extLst>
              <a:ext uri="{FF2B5EF4-FFF2-40B4-BE49-F238E27FC236}">
                <a16:creationId xmlns:a16="http://schemas.microsoft.com/office/drawing/2014/main" id="{8351D49C-B453-8CF5-4D25-7119A50E0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21" y="1098717"/>
            <a:ext cx="5826079" cy="2903538"/>
          </a:xfrm>
          <a:prstGeom prst="rect">
            <a:avLst/>
          </a:prstGeom>
        </p:spPr>
      </p:pic>
      <p:pic>
        <p:nvPicPr>
          <p:cNvPr id="7" name="Picture 6">
            <a:extLst>
              <a:ext uri="{FF2B5EF4-FFF2-40B4-BE49-F238E27FC236}">
                <a16:creationId xmlns:a16="http://schemas.microsoft.com/office/drawing/2014/main" id="{2D892E1A-F5F5-98EC-145B-280BDF0CB3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098717"/>
            <a:ext cx="5851906" cy="2916409"/>
          </a:xfrm>
          <a:prstGeom prst="rect">
            <a:avLst/>
          </a:prstGeom>
        </p:spPr>
      </p:pic>
    </p:spTree>
    <p:extLst>
      <p:ext uri="{BB962C8B-B14F-4D97-AF65-F5344CB8AC3E}">
        <p14:creationId xmlns:p14="http://schemas.microsoft.com/office/powerpoint/2010/main" val="73599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39AE-E7A6-73F2-15BD-FA52704DA755}"/>
              </a:ext>
            </a:extLst>
          </p:cNvPr>
          <p:cNvSpPr>
            <a:spLocks noGrp="1"/>
          </p:cNvSpPr>
          <p:nvPr>
            <p:ph type="ctrTitle"/>
          </p:nvPr>
        </p:nvSpPr>
        <p:spPr>
          <a:xfrm>
            <a:off x="2068642" y="252934"/>
            <a:ext cx="8054715" cy="946280"/>
          </a:xfrm>
        </p:spPr>
        <p:txBody>
          <a:bodyPr>
            <a:normAutofit/>
          </a:bodyPr>
          <a:lstStyle/>
          <a:p>
            <a:r>
              <a:rPr lang="en-US" sz="2800" b="1" dirty="0">
                <a:latin typeface="+mn-lt"/>
              </a:rPr>
              <a:t>Mechanical Stress: Torque vs Rotational Speed</a:t>
            </a:r>
          </a:p>
        </p:txBody>
      </p:sp>
      <p:pic>
        <p:nvPicPr>
          <p:cNvPr id="5" name="Picture 4">
            <a:extLst>
              <a:ext uri="{FF2B5EF4-FFF2-40B4-BE49-F238E27FC236}">
                <a16:creationId xmlns:a16="http://schemas.microsoft.com/office/drawing/2014/main" id="{EDAA6441-4AC7-6FE7-5B9E-D3985B136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3448" y="1957346"/>
            <a:ext cx="5411448" cy="3654621"/>
          </a:xfrm>
          <a:prstGeom prst="rect">
            <a:avLst/>
          </a:prstGeom>
        </p:spPr>
      </p:pic>
      <p:sp>
        <p:nvSpPr>
          <p:cNvPr id="9" name="Rectangle 4">
            <a:extLst>
              <a:ext uri="{FF2B5EF4-FFF2-40B4-BE49-F238E27FC236}">
                <a16:creationId xmlns:a16="http://schemas.microsoft.com/office/drawing/2014/main" id="{52A1A68C-0E18-2195-1FA2-61E335060BED}"/>
              </a:ext>
            </a:extLst>
          </p:cNvPr>
          <p:cNvSpPr>
            <a:spLocks noGrp="1" noChangeArrowheads="1"/>
          </p:cNvSpPr>
          <p:nvPr>
            <p:ph type="subTitle" idx="1"/>
          </p:nvPr>
        </p:nvSpPr>
        <p:spPr bwMode="auto">
          <a:xfrm>
            <a:off x="477104" y="1799443"/>
            <a:ext cx="56188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Machines operate safely within a </a:t>
            </a:r>
            <a:r>
              <a:rPr kumimoji="0" lang="en-US" altLang="en-US" sz="1800" b="1" i="0" u="none" strike="noStrike" cap="none" normalizeH="0" baseline="0" dirty="0">
                <a:ln>
                  <a:noFill/>
                </a:ln>
                <a:solidFill>
                  <a:schemeClr val="tx1"/>
                </a:solidFill>
                <a:effectLst/>
                <a:latin typeface="Arial" panose="020B0604020202020204" pitchFamily="34" charset="0"/>
              </a:rPr>
              <a:t>normal balance of speed and load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Failures mainly occur when machines are pushed </a:t>
            </a:r>
            <a:r>
              <a:rPr kumimoji="0" lang="en-US" altLang="en-US" sz="1800" b="1" i="0" u="none" strike="noStrike" cap="none" normalizeH="0" baseline="0" dirty="0">
                <a:ln>
                  <a:noFill/>
                </a:ln>
                <a:solidFill>
                  <a:schemeClr val="tx1"/>
                </a:solidFill>
                <a:effectLst/>
                <a:latin typeface="Arial" panose="020B0604020202020204" pitchFamily="34" charset="0"/>
              </a:rPr>
              <a:t>too hard or operated inefficiently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Very </a:t>
            </a:r>
            <a:r>
              <a:rPr kumimoji="0" lang="en-US" altLang="en-US" sz="1800" b="1" i="0" u="none" strike="noStrike" cap="none" normalizeH="0" baseline="0" dirty="0">
                <a:ln>
                  <a:noFill/>
                </a:ln>
                <a:solidFill>
                  <a:schemeClr val="tx1"/>
                </a:solidFill>
                <a:effectLst/>
                <a:latin typeface="Arial" panose="020B0604020202020204" pitchFamily="34" charset="0"/>
              </a:rPr>
              <a:t>high load at low speed</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very high speed with low load</a:t>
            </a:r>
            <a:r>
              <a:rPr kumimoji="0" lang="en-US" altLang="en-US" sz="1800" b="0" i="0" u="none" strike="noStrike" cap="none" normalizeH="0" baseline="0" dirty="0">
                <a:ln>
                  <a:noFill/>
                </a:ln>
                <a:solidFill>
                  <a:schemeClr val="tx1"/>
                </a:solidFill>
                <a:effectLst/>
                <a:latin typeface="Arial" panose="020B0604020202020204" pitchFamily="34" charset="0"/>
              </a:rPr>
              <a:t> puts extra strain on components.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extreme conditions </a:t>
            </a:r>
            <a:r>
              <a:rPr kumimoji="0" lang="en-US" altLang="en-US" sz="1800" b="1" i="0" u="none" strike="noStrike" cap="none" normalizeH="0" baseline="0" dirty="0">
                <a:ln>
                  <a:noFill/>
                </a:ln>
                <a:solidFill>
                  <a:schemeClr val="tx1"/>
                </a:solidFill>
                <a:effectLst/>
                <a:latin typeface="Arial" panose="020B0604020202020204" pitchFamily="34" charset="0"/>
              </a:rPr>
              <a:t>accelerate wear and increase breakdown risk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Failures are </a:t>
            </a:r>
            <a:r>
              <a:rPr kumimoji="0" lang="en-US" altLang="en-US" sz="1800" b="1" i="0" u="none" strike="noStrike" cap="none" normalizeH="0" baseline="0" dirty="0">
                <a:ln>
                  <a:noFill/>
                </a:ln>
                <a:solidFill>
                  <a:schemeClr val="tx1"/>
                </a:solidFill>
                <a:effectLst/>
                <a:latin typeface="Arial" panose="020B0604020202020204" pitchFamily="34" charset="0"/>
              </a:rPr>
              <a:t>not random</a:t>
            </a:r>
            <a:r>
              <a:rPr kumimoji="0" lang="en-US" altLang="en-US" sz="1800" b="0" i="0" u="none" strike="noStrike" cap="none" normalizeH="0" baseline="0" dirty="0">
                <a:ln>
                  <a:noFill/>
                </a:ln>
                <a:solidFill>
                  <a:schemeClr val="tx1"/>
                </a:solidFill>
                <a:effectLst/>
                <a:latin typeface="Arial" panose="020B0604020202020204" pitchFamily="34" charset="0"/>
              </a:rPr>
              <a:t> — they happen when machines operate outside safe limits.</a:t>
            </a:r>
          </a:p>
        </p:txBody>
      </p:sp>
    </p:spTree>
    <p:extLst>
      <p:ext uri="{BB962C8B-B14F-4D97-AF65-F5344CB8AC3E}">
        <p14:creationId xmlns:p14="http://schemas.microsoft.com/office/powerpoint/2010/main" val="175440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fade">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fade">
                                      <p:cBhvr>
                                        <p:cTn id="3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AC159F-F1F0-8799-38D3-1C611FCDC8D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524000" y="1617414"/>
            <a:ext cx="1865376" cy="1118616"/>
          </a:xfrm>
          <a:prstGeom prst="rect">
            <a:avLst/>
          </a:prstGeom>
        </p:spPr>
      </p:pic>
      <p:sp>
        <p:nvSpPr>
          <p:cNvPr id="3" name="Subtitle 2">
            <a:extLst>
              <a:ext uri="{FF2B5EF4-FFF2-40B4-BE49-F238E27FC236}">
                <a16:creationId xmlns:a16="http://schemas.microsoft.com/office/drawing/2014/main" id="{535B6C11-61B9-8746-EF3B-640B6CDBD020}"/>
              </a:ext>
            </a:extLst>
          </p:cNvPr>
          <p:cNvSpPr>
            <a:spLocks noGrp="1"/>
          </p:cNvSpPr>
          <p:nvPr>
            <p:ph type="subTitle" idx="1"/>
          </p:nvPr>
        </p:nvSpPr>
        <p:spPr>
          <a:xfrm>
            <a:off x="1524000" y="2870941"/>
            <a:ext cx="9144000" cy="1655762"/>
          </a:xfrm>
        </p:spPr>
        <p:txBody>
          <a:bodyPr/>
          <a:lstStyle/>
          <a:p>
            <a:r>
              <a:rPr lang="en-US" dirty="0"/>
              <a:t>“Analysis shows that machines usually fail for clear reasons — worn tools, poor cooling, or extreme operating conditions. By monitoring these factors and acting early, most failures can be avoided.”</a:t>
            </a:r>
          </a:p>
        </p:txBody>
      </p:sp>
    </p:spTree>
    <p:extLst>
      <p:ext uri="{BB962C8B-B14F-4D97-AF65-F5344CB8AC3E}">
        <p14:creationId xmlns:p14="http://schemas.microsoft.com/office/powerpoint/2010/main" val="386497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5694-C132-1A65-37D0-962F1E55C0FC}"/>
              </a:ext>
            </a:extLst>
          </p:cNvPr>
          <p:cNvSpPr>
            <a:spLocks noGrp="1"/>
          </p:cNvSpPr>
          <p:nvPr>
            <p:ph type="ctrTitle"/>
          </p:nvPr>
        </p:nvSpPr>
        <p:spPr>
          <a:xfrm>
            <a:off x="1045565" y="821610"/>
            <a:ext cx="2988039" cy="601506"/>
          </a:xfrm>
        </p:spPr>
        <p:txBody>
          <a:bodyPr>
            <a:normAutofit/>
          </a:bodyPr>
          <a:lstStyle/>
          <a:p>
            <a:r>
              <a:rPr lang="en-US" sz="2800" b="1" dirty="0">
                <a:latin typeface="+mn-lt"/>
              </a:rPr>
              <a:t>Statistical Analysis</a:t>
            </a:r>
          </a:p>
        </p:txBody>
      </p:sp>
      <p:sp>
        <p:nvSpPr>
          <p:cNvPr id="3" name="Subtitle 2">
            <a:extLst>
              <a:ext uri="{FF2B5EF4-FFF2-40B4-BE49-F238E27FC236}">
                <a16:creationId xmlns:a16="http://schemas.microsoft.com/office/drawing/2014/main" id="{2BE107CA-4E5F-4BD7-0B1D-C0F0621704EC}"/>
              </a:ext>
            </a:extLst>
          </p:cNvPr>
          <p:cNvSpPr>
            <a:spLocks noGrp="1"/>
          </p:cNvSpPr>
          <p:nvPr>
            <p:ph type="subTitle" idx="1"/>
          </p:nvPr>
        </p:nvSpPr>
        <p:spPr>
          <a:xfrm>
            <a:off x="547140" y="2469954"/>
            <a:ext cx="4616971" cy="2761613"/>
          </a:xfrm>
        </p:spPr>
        <p:txBody>
          <a:bodyPr>
            <a:normAutofit/>
          </a:bodyPr>
          <a:lstStyle/>
          <a:p>
            <a:r>
              <a:rPr lang="en-US" dirty="0"/>
              <a:t>“We carefully analyzed the data statistically to ensure that features used in modeling are meaningful and independent. This prevents misleading results, reduces model complexity, and ensures that our machine learning predictions are reliable and interpretable.”</a:t>
            </a:r>
          </a:p>
        </p:txBody>
      </p:sp>
      <p:pic>
        <p:nvPicPr>
          <p:cNvPr id="5" name="Picture 4">
            <a:extLst>
              <a:ext uri="{FF2B5EF4-FFF2-40B4-BE49-F238E27FC236}">
                <a16:creationId xmlns:a16="http://schemas.microsoft.com/office/drawing/2014/main" id="{2C02C39B-DD38-ED2C-FF68-E3CB98D1E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1135" y="1122363"/>
            <a:ext cx="5563463" cy="4902173"/>
          </a:xfrm>
          <a:prstGeom prst="rect">
            <a:avLst/>
          </a:prstGeom>
        </p:spPr>
      </p:pic>
    </p:spTree>
    <p:extLst>
      <p:ext uri="{BB962C8B-B14F-4D97-AF65-F5344CB8AC3E}">
        <p14:creationId xmlns:p14="http://schemas.microsoft.com/office/powerpoint/2010/main" val="53042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5F86-A9DA-60FE-167F-AA6542FEF8D4}"/>
              </a:ext>
            </a:extLst>
          </p:cNvPr>
          <p:cNvSpPr>
            <a:spLocks noGrp="1"/>
          </p:cNvSpPr>
          <p:nvPr>
            <p:ph type="ctrTitle"/>
          </p:nvPr>
        </p:nvSpPr>
        <p:spPr>
          <a:xfrm>
            <a:off x="448073" y="566375"/>
            <a:ext cx="4572000" cy="586516"/>
          </a:xfrm>
        </p:spPr>
        <p:txBody>
          <a:bodyPr>
            <a:normAutofit fontScale="90000"/>
          </a:bodyPr>
          <a:lstStyle/>
          <a:p>
            <a:r>
              <a:rPr lang="en-US" sz="2800" b="1" dirty="0">
                <a:latin typeface="+mn-lt"/>
              </a:rPr>
              <a:t>Predictive Modeling Approach</a:t>
            </a:r>
          </a:p>
        </p:txBody>
      </p:sp>
      <p:pic>
        <p:nvPicPr>
          <p:cNvPr id="5" name="Picture 4">
            <a:extLst>
              <a:ext uri="{FF2B5EF4-FFF2-40B4-BE49-F238E27FC236}">
                <a16:creationId xmlns:a16="http://schemas.microsoft.com/office/drawing/2014/main" id="{63A8442A-4F92-1852-AEF9-E76FA0AE3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0928" y="1152891"/>
            <a:ext cx="5652919" cy="4692457"/>
          </a:xfrm>
          <a:prstGeom prst="rect">
            <a:avLst/>
          </a:prstGeom>
        </p:spPr>
      </p:pic>
      <p:sp>
        <p:nvSpPr>
          <p:cNvPr id="6" name="Rectangle 1">
            <a:extLst>
              <a:ext uri="{FF2B5EF4-FFF2-40B4-BE49-F238E27FC236}">
                <a16:creationId xmlns:a16="http://schemas.microsoft.com/office/drawing/2014/main" id="{CD3D2A80-9EDC-EACE-8642-A5EA74192F87}"/>
              </a:ext>
            </a:extLst>
          </p:cNvPr>
          <p:cNvSpPr>
            <a:spLocks noGrp="1" noChangeArrowheads="1"/>
          </p:cNvSpPr>
          <p:nvPr>
            <p:ph type="subTitle" idx="1"/>
          </p:nvPr>
        </p:nvSpPr>
        <p:spPr bwMode="auto">
          <a:xfrm>
            <a:off x="599606" y="1505909"/>
            <a:ext cx="538146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a:t>
            </a:r>
            <a:r>
              <a:rPr kumimoji="0" lang="en-US" altLang="en-US" sz="1800" b="0" i="0" u="none" strike="noStrike" cap="none" normalizeH="0" baseline="0" dirty="0">
                <a:ln>
                  <a:noFill/>
                </a:ln>
                <a:solidFill>
                  <a:schemeClr val="tx1"/>
                </a:solidFill>
                <a:effectLst/>
                <a:latin typeface="Arial" panose="020B0604020202020204" pitchFamily="34" charset="0"/>
              </a:rPr>
              <a:t> Random Forest, handles non-linear relationships, robust to extra/missing columns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Importance: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Rotational Speed, Torque, Tool wear, Power most important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Testing: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Accuracy ≈ 99.8%, ROC-AUC ≈ 0.9987</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Confusion matrix shows almost all failures correctly predicted</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Robust to new unseen data with extra columns</a:t>
            </a:r>
          </a:p>
        </p:txBody>
      </p:sp>
      <p:sp>
        <p:nvSpPr>
          <p:cNvPr id="7" name="TextBox 6">
            <a:extLst>
              <a:ext uri="{FF2B5EF4-FFF2-40B4-BE49-F238E27FC236}">
                <a16:creationId xmlns:a16="http://schemas.microsoft.com/office/drawing/2014/main" id="{9B37C94D-2BE0-C32F-0370-3055A569FD47}"/>
              </a:ext>
            </a:extLst>
          </p:cNvPr>
          <p:cNvSpPr txBox="1"/>
          <p:nvPr/>
        </p:nvSpPr>
        <p:spPr>
          <a:xfrm>
            <a:off x="599606" y="4976734"/>
            <a:ext cx="5381467" cy="1200329"/>
          </a:xfrm>
          <a:prstGeom prst="rect">
            <a:avLst/>
          </a:prstGeom>
          <a:noFill/>
        </p:spPr>
        <p:txBody>
          <a:bodyPr wrap="square" rtlCol="0">
            <a:spAutoFit/>
          </a:bodyPr>
          <a:lstStyle/>
          <a:p>
            <a:r>
              <a:rPr lang="en-US" dirty="0"/>
              <a:t>“Our model accurately predicts machine failures and is robust, so it can be deployed on live sensor data without breaking.”</a:t>
            </a:r>
          </a:p>
          <a:p>
            <a:endParaRPr lang="en-US" dirty="0"/>
          </a:p>
        </p:txBody>
      </p:sp>
    </p:spTree>
    <p:extLst>
      <p:ext uri="{BB962C8B-B14F-4D97-AF65-F5344CB8AC3E}">
        <p14:creationId xmlns:p14="http://schemas.microsoft.com/office/powerpoint/2010/main" val="43085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B1C09-CE1E-A93E-0885-C81496E1015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162142" y="1053059"/>
            <a:ext cx="2570814" cy="2570814"/>
          </a:xfrm>
          <a:prstGeom prst="rect">
            <a:avLst/>
          </a:prstGeom>
        </p:spPr>
      </p:pic>
      <p:sp>
        <p:nvSpPr>
          <p:cNvPr id="2" name="Title 1">
            <a:extLst>
              <a:ext uri="{FF2B5EF4-FFF2-40B4-BE49-F238E27FC236}">
                <a16:creationId xmlns:a16="http://schemas.microsoft.com/office/drawing/2014/main" id="{D42BBE4B-3D3F-930B-C79E-2978DADC07CF}"/>
              </a:ext>
            </a:extLst>
          </p:cNvPr>
          <p:cNvSpPr>
            <a:spLocks noGrp="1"/>
          </p:cNvSpPr>
          <p:nvPr>
            <p:ph type="ctrTitle"/>
          </p:nvPr>
        </p:nvSpPr>
        <p:spPr>
          <a:xfrm>
            <a:off x="999343" y="639880"/>
            <a:ext cx="5491397" cy="826358"/>
          </a:xfrm>
        </p:spPr>
        <p:txBody>
          <a:bodyPr>
            <a:normAutofit/>
          </a:bodyPr>
          <a:lstStyle/>
          <a:p>
            <a:r>
              <a:rPr lang="en-US" sz="2800" b="1" dirty="0">
                <a:latin typeface="+mn-lt"/>
              </a:rPr>
              <a:t>Key Insights &amp; Recommendations</a:t>
            </a:r>
          </a:p>
        </p:txBody>
      </p:sp>
      <p:sp>
        <p:nvSpPr>
          <p:cNvPr id="4" name="Rectangle 1">
            <a:extLst>
              <a:ext uri="{FF2B5EF4-FFF2-40B4-BE49-F238E27FC236}">
                <a16:creationId xmlns:a16="http://schemas.microsoft.com/office/drawing/2014/main" id="{DEC52917-C7F5-1086-0EB1-3BBDC7A1D2D4}"/>
              </a:ext>
            </a:extLst>
          </p:cNvPr>
          <p:cNvSpPr>
            <a:spLocks noGrp="1" noChangeArrowheads="1"/>
          </p:cNvSpPr>
          <p:nvPr>
            <p:ph type="subTitle" idx="1"/>
          </p:nvPr>
        </p:nvSpPr>
        <p:spPr bwMode="auto">
          <a:xfrm>
            <a:off x="1164235" y="1720840"/>
            <a:ext cx="1040817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Machine failures are primarily driven by: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High tool wear</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Reduced cooling efficiency (low ΔT)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Extreme mechanical load (Torque × Speed extremes)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Recommended Actions: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Monitor tool wear and replace tools before end-of-life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Track thermal efficiency (ΔT) to prevent overheating</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Limit operations at extreme torque-speed combinations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Use ML predictions to plan proactive maintenance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Combine thermal, mechanical, and tool wear indicators for early warning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02ACD04-57B2-65DD-C2F6-76447A4D4E69}"/>
              </a:ext>
            </a:extLst>
          </p:cNvPr>
          <p:cNvSpPr txBox="1"/>
          <p:nvPr/>
        </p:nvSpPr>
        <p:spPr>
          <a:xfrm>
            <a:off x="1409075" y="5426439"/>
            <a:ext cx="10163331" cy="646331"/>
          </a:xfrm>
          <a:prstGeom prst="rect">
            <a:avLst/>
          </a:prstGeom>
          <a:noFill/>
        </p:spPr>
        <p:txBody>
          <a:bodyPr wrap="square" rtlCol="0">
            <a:spAutoFit/>
          </a:bodyPr>
          <a:lstStyle/>
          <a:p>
            <a:pPr algn="ctr"/>
            <a:r>
              <a:rPr lang="en-US" dirty="0"/>
              <a:t>“By focusing on these actionable insights, operations teams can reduce unexpected downtime, optimize maintenance schedules, and extend machine life.”</a:t>
            </a:r>
          </a:p>
        </p:txBody>
      </p:sp>
    </p:spTree>
    <p:extLst>
      <p:ext uri="{BB962C8B-B14F-4D97-AF65-F5344CB8AC3E}">
        <p14:creationId xmlns:p14="http://schemas.microsoft.com/office/powerpoint/2010/main" val="199962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500"/>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500"/>
                                        <p:tgtEl>
                                          <p:spTgt spid="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500"/>
                                        <p:tgtEl>
                                          <p:spTgt spid="4">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500"/>
                                        <p:tgtEl>
                                          <p:spTgt spid="4">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Effect transition="in" filter="fade">
                                      <p:cBhvr>
                                        <p:cTn id="52" dur="500"/>
                                        <p:tgtEl>
                                          <p:spTgt spid="4">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animEffect transition="in" filter="fade">
                                      <p:cBhvr>
                                        <p:cTn id="57" dur="500"/>
                                        <p:tgtEl>
                                          <p:spTgt spid="4">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0" end="10"/>
                                            </p:txEl>
                                          </p:spTgt>
                                        </p:tgtEl>
                                        <p:attrNameLst>
                                          <p:attrName>style.visibility</p:attrName>
                                        </p:attrNameLst>
                                      </p:cBhvr>
                                      <p:to>
                                        <p:strVal val="visible"/>
                                      </p:to>
                                    </p:set>
                                    <p:animEffect transition="in" filter="fade">
                                      <p:cBhvr>
                                        <p:cTn id="62" dur="500"/>
                                        <p:tgtEl>
                                          <p:spTgt spid="4">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
                                            <p:txEl>
                                              <p:pRg st="0" end="0"/>
                                            </p:txEl>
                                          </p:spTgt>
                                        </p:tgtEl>
                                        <p:attrNameLst>
                                          <p:attrName>style.visibility</p:attrName>
                                        </p:attrNameLst>
                                      </p:cBhvr>
                                      <p:to>
                                        <p:strVal val="visible"/>
                                      </p:to>
                                    </p:set>
                                    <p:animEffect transition="in" filter="fade">
                                      <p:cBhvr>
                                        <p:cTn id="6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572</Words>
  <Application>Microsoft Office PowerPoint</Application>
  <PresentationFormat>Widescreen</PresentationFormat>
  <Paragraphs>68</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Industrial Predictive Maintenance Using  Physics-Based Analytics and Machine Learning </vt:lpstr>
      <vt:lpstr>Problem Statement</vt:lpstr>
      <vt:lpstr>Dataset Overview</vt:lpstr>
      <vt:lpstr>Key Factors Influencing Machine Failure</vt:lpstr>
      <vt:lpstr>Mechanical Stress: Torque vs Rotational Speed</vt:lpstr>
      <vt:lpstr>PowerPoint Presentation</vt:lpstr>
      <vt:lpstr>Statistical Analysis</vt:lpstr>
      <vt:lpstr>Predictive Modeling Approach</vt:lpstr>
      <vt:lpstr>Key Insights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Crown MT</dc:creator>
  <cp:lastModifiedBy>Crown MT</cp:lastModifiedBy>
  <cp:revision>2</cp:revision>
  <dcterms:created xsi:type="dcterms:W3CDTF">2025-12-26T20:49:31Z</dcterms:created>
  <dcterms:modified xsi:type="dcterms:W3CDTF">2025-12-26T21:21:48Z</dcterms:modified>
</cp:coreProperties>
</file>